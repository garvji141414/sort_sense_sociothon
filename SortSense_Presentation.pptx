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7160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SortSense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Waste Identification &amp; Segregation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item in the right bin — decided in under a second, at the point of disposal.”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3291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</a:t>
            </a:r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team_name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Arpit Seth  •  Rajeev Maheshwari  •  Garv Agarwal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406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Sociothon 2026 • NSS IIT Roorkee • Smart &amp; Sustainable Waste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9144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371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challenge are we solving?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74520"/>
            <a:ext cx="2057400" cy="1965960"/>
          </a:xfrm>
          <a:prstGeom prst="roundRect">
            <a:avLst>
              <a:gd name="adj" fmla="val 5581"/>
            </a:avLst>
          </a:prstGeom>
          <a:solidFill>
            <a:srgbClr val="EEFBC9"/>
          </a:solidFill>
          <a:ln w="12700">
            <a:solidFill>
              <a:srgbClr val="EEFBC9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2011680"/>
            <a:ext cx="457200" cy="457200"/>
          </a:xfrm>
          <a:prstGeom prst="ellipse">
            <a:avLst/>
          </a:prstGeom>
          <a:solidFill>
            <a:srgbClr val="B8E62A"/>
          </a:solidFill>
          <a:ln w="12700">
            <a:solidFill>
              <a:srgbClr val="B8E6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at source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5603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Wet, dry and hazardous waste end up in one bin — so recyclables get contaminated and become unrecoverable.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874520"/>
            <a:ext cx="2057400" cy="1965960"/>
          </a:xfrm>
          <a:prstGeom prst="roundRect">
            <a:avLst>
              <a:gd name="adj" fmla="val 5581"/>
            </a:avLst>
          </a:prstGeom>
          <a:solidFill>
            <a:srgbClr val="EFE8FF"/>
          </a:solidFill>
          <a:ln w="12700">
            <a:solidFill>
              <a:srgbClr val="EFE8FF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2011680"/>
            <a:ext cx="457200" cy="457200"/>
          </a:xfrm>
          <a:prstGeom prst="ellipse">
            <a:avLst/>
          </a:prstGeom>
          <a:solidFill>
            <a:srgbClr val="6B3FD9"/>
          </a:solidFill>
          <a:ln w="12700">
            <a:solidFill>
              <a:srgbClr val="6B3F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don’t know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5603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a chip packet recyclable? A paper cup?” Confusion at the bin is the #1 cause of wrong disposal.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1874520"/>
            <a:ext cx="2057400" cy="1965960"/>
          </a:xfrm>
          <a:prstGeom prst="roundRect">
            <a:avLst>
              <a:gd name="adj" fmla="val 5581"/>
            </a:avLst>
          </a:prstGeom>
          <a:solidFill>
            <a:srgbClr val="EEFBC9"/>
          </a:solidFill>
          <a:ln w="12700">
            <a:solidFill>
              <a:srgbClr val="EEFBC9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15000" y="2011680"/>
            <a:ext cx="457200" cy="457200"/>
          </a:xfrm>
          <a:prstGeom prst="ellipse">
            <a:avLst/>
          </a:prstGeom>
          <a:solidFill>
            <a:srgbClr val="B8E62A"/>
          </a:solidFill>
          <a:ln w="12700">
            <a:solidFill>
              <a:srgbClr val="B8E6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150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data, no feedback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25603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measures segregation quality per hostel or canteen, so nothing improves over time.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9776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recyclable value is lost to landfill, sorting staff hand-pick through mixed waste, and campuses can’t prove progress.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9144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371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SortSense — a smart segregation station + app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8288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 camera at any item. SortSense identifies it, tells you (and the bin) which compartment it goes in, and logs the decision — turning every disposal into clean segregation and live data.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46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it’s for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staff at the bin • Housekeeping / sorting teams • Estate office &amp; NSS volunteers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828800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2E9E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64608" y="1956816"/>
            <a:ext cx="274320" cy="274320"/>
          </a:xfrm>
          <a:prstGeom prst="ellipse">
            <a:avLst/>
          </a:prstGeom>
          <a:solidFill>
            <a:srgbClr val="2E9E4F"/>
          </a:solidFill>
          <a:ln w="12700">
            <a:solidFill>
              <a:srgbClr val="2E9E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185623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Biodegradable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peels, tea leaves, leaves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450592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2F5B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4608" y="2578608"/>
            <a:ext cx="274320" cy="274320"/>
          </a:xfrm>
          <a:prstGeom prst="ellipse">
            <a:avLst/>
          </a:prstGeom>
          <a:solidFill>
            <a:srgbClr val="2F5BEA"/>
          </a:solidFill>
          <a:ln w="12700">
            <a:solidFill>
              <a:srgbClr val="2F5B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247802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Recyclable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bottles, cans, paper, cardboard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3072384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55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3200400"/>
            <a:ext cx="274320" cy="274320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09981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Non-recyclable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wrappers, tissues, thermocol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3694176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4608" y="3822192"/>
            <a:ext cx="274320" cy="27432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57800" y="37216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/ E-waste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Batteries, bulbs, sanitary, chargers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9144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371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item to correct bin in under a second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74520"/>
            <a:ext cx="1143000" cy="210312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35608" y="2011680"/>
            <a:ext cx="457200" cy="457200"/>
          </a:xfrm>
          <a:prstGeom prst="ellipse">
            <a:avLst/>
          </a:prstGeom>
          <a:solidFill>
            <a:srgbClr val="B8E62A"/>
          </a:solidFill>
          <a:ln w="12700">
            <a:solidFill>
              <a:srgbClr val="B8E6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3560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560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2880360"/>
            <a:ext cx="996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at the bin (ESP32-CAM) or phone app snaps the item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58568" y="2816352"/>
            <a:ext cx="109728" cy="182880"/>
          </a:xfrm>
          <a:prstGeom prst="rtTriangle">
            <a:avLst/>
          </a:prstGeom>
          <a:solidFill>
            <a:srgbClr val="6B3FD9"/>
          </a:solidFill>
          <a:ln w="12700">
            <a:solidFill>
              <a:srgbClr val="6B3F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95728" y="1874520"/>
            <a:ext cx="1143000" cy="210312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34056" y="2011680"/>
            <a:ext cx="457200" cy="457200"/>
          </a:xfrm>
          <a:prstGeom prst="ellipse">
            <a:avLst/>
          </a:prstGeom>
          <a:solidFill>
            <a:srgbClr val="B8E62A"/>
          </a:solidFill>
          <a:ln w="12700">
            <a:solidFill>
              <a:srgbClr val="B8E6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3405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441448" y="2560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2880360"/>
            <a:ext cx="996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MobileNet / YOLO model predicts the material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57016" y="2816352"/>
            <a:ext cx="109728" cy="182880"/>
          </a:xfrm>
          <a:prstGeom prst="rtTriangle">
            <a:avLst/>
          </a:prstGeom>
          <a:solidFill>
            <a:srgbClr val="6B3FD9"/>
          </a:solidFill>
          <a:ln w="12700">
            <a:solidFill>
              <a:srgbClr val="6B3F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94176" y="1874520"/>
            <a:ext cx="1143000" cy="2103120"/>
          </a:xfrm>
          <a:prstGeom prst="roundRect">
            <a:avLst>
              <a:gd name="adj" fmla="val 9600"/>
            </a:avLst>
          </a:prstGeom>
          <a:solidFill>
            <a:srgbClr val="EFE8FF"/>
          </a:solidFill>
          <a:ln w="12700">
            <a:solidFill>
              <a:srgbClr val="EFE8FF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32504" y="2011680"/>
            <a:ext cx="457200" cy="457200"/>
          </a:xfrm>
          <a:prstGeom prst="ellipse">
            <a:avLst/>
          </a:prstGeom>
          <a:solidFill>
            <a:srgbClr val="6B3FD9"/>
          </a:solidFill>
          <a:ln w="12700">
            <a:solidFill>
              <a:srgbClr val="6B3F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3250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739896" y="2560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767328" y="2880360"/>
            <a:ext cx="996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80% → auto-route. Lower → ask the user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55464" y="2816352"/>
            <a:ext cx="109728" cy="182880"/>
          </a:xfrm>
          <a:prstGeom prst="rtTriangle">
            <a:avLst/>
          </a:prstGeom>
          <a:solidFill>
            <a:srgbClr val="6B3FD9"/>
          </a:solidFill>
          <a:ln w="12700">
            <a:solidFill>
              <a:srgbClr val="6B3F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92624" y="1874520"/>
            <a:ext cx="1143000" cy="210312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30952" y="2011680"/>
            <a:ext cx="457200" cy="457200"/>
          </a:xfrm>
          <a:prstGeom prst="ellipse">
            <a:avLst/>
          </a:prstGeom>
          <a:solidFill>
            <a:srgbClr val="B8E62A"/>
          </a:solidFill>
          <a:ln w="12700">
            <a:solidFill>
              <a:srgbClr val="B8E6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3095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038344" y="2560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065776" y="2880360"/>
            <a:ext cx="996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+ voice guide; servo flap opens the right lid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53912" y="2816352"/>
            <a:ext cx="109728" cy="182880"/>
          </a:xfrm>
          <a:prstGeom prst="rtTriangle">
            <a:avLst/>
          </a:prstGeom>
          <a:solidFill>
            <a:srgbClr val="6B3FD9"/>
          </a:solidFill>
          <a:ln w="12700">
            <a:solidFill>
              <a:srgbClr val="6B3F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91072" y="1874520"/>
            <a:ext cx="1143000" cy="210312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29400" y="2011680"/>
            <a:ext cx="457200" cy="457200"/>
          </a:xfrm>
          <a:prstGeom prst="ellipse">
            <a:avLst/>
          </a:prstGeom>
          <a:solidFill>
            <a:srgbClr val="B8E62A"/>
          </a:solidFill>
          <a:ln w="12700">
            <a:solidFill>
              <a:srgbClr val="B8E62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29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336792" y="2560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364224" y="2880360"/>
            <a:ext cx="996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 → dashboard + retraining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411480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errors: low-confidence items never get auto-dumped — the user confirms, and that confirmation becomes a new labelled training image.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9144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7280" y="160020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EEFBC9"/>
          </a:solidFill>
          <a:ln w="12700">
            <a:solidFill>
              <a:srgbClr val="EEFBC9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34440" y="1746504"/>
            <a:ext cx="438912" cy="438912"/>
          </a:xfrm>
          <a:prstGeom prst="ellipse">
            <a:avLst/>
          </a:prstGeom>
          <a:solidFill>
            <a:srgbClr val="B8E62A"/>
          </a:solidFill>
          <a:ln w="12700">
            <a:solidFill>
              <a:srgbClr val="B8E6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746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645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AI classification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4-category output with disposal instructions specific to the item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60020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EFE8FF"/>
          </a:solidFill>
          <a:ln w="12700">
            <a:solidFill>
              <a:srgbClr val="EFE8FF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6280" y="1746504"/>
            <a:ext cx="438912" cy="438912"/>
          </a:xfrm>
          <a:prstGeom prst="ellipse">
            <a:avLst/>
          </a:prstGeom>
          <a:solidFill>
            <a:srgbClr val="6B3FD9"/>
          </a:solidFill>
          <a:ln w="12700">
            <a:solidFill>
              <a:srgbClr val="6B3F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746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1645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Confidence-aware routing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predictions trigger a 1-tap human confirm, not a guess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246888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EEFBC9"/>
          </a:solidFill>
          <a:ln w="12700">
            <a:solidFill>
              <a:srgbClr val="EEFBC9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234440" y="2615184"/>
            <a:ext cx="438912" cy="438912"/>
          </a:xfrm>
          <a:prstGeom prst="ellipse">
            <a:avLst/>
          </a:prstGeom>
          <a:solidFill>
            <a:srgbClr val="B8E62A"/>
          </a:solidFill>
          <a:ln w="12700">
            <a:solidFill>
              <a:srgbClr val="B8E6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2615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alert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wet waste or food residue going into the recyclable bin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0" y="246888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EFE8FF"/>
          </a:solidFill>
          <a:ln w="12700">
            <a:solidFill>
              <a:srgbClr val="EFE8FF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26280" y="2615184"/>
            <a:ext cx="438912" cy="438912"/>
          </a:xfrm>
          <a:prstGeom prst="ellipse">
            <a:avLst/>
          </a:prstGeom>
          <a:solidFill>
            <a:srgbClr val="6B3FD9"/>
          </a:solidFill>
          <a:ln w="12700">
            <a:solidFill>
              <a:srgbClr val="6B3F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2615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model runs on the device — no internet needed at the bin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97280" y="333756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EEFBC9"/>
          </a:solidFill>
          <a:ln w="12700">
            <a:solidFill>
              <a:srgbClr val="EEFBC9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34440" y="3483864"/>
            <a:ext cx="438912" cy="438912"/>
          </a:xfrm>
          <a:prstGeom prst="ellipse">
            <a:avLst/>
          </a:prstGeom>
          <a:solidFill>
            <a:srgbClr val="B8E62A"/>
          </a:solidFill>
          <a:ln w="12700">
            <a:solidFill>
              <a:srgbClr val="B8E6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3483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3383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dashboard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Per-hostel accuracy, volumes and trends for the estate office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89120" y="333756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EFE8FF"/>
          </a:solidFill>
          <a:ln w="12700">
            <a:solidFill>
              <a:srgbClr val="EFE8FF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26280" y="3483864"/>
            <a:ext cx="438912" cy="438912"/>
          </a:xfrm>
          <a:prstGeom prst="ellipse">
            <a:avLst/>
          </a:prstGeom>
          <a:solidFill>
            <a:srgbClr val="6B3FD9"/>
          </a:solidFill>
          <a:ln w="12700">
            <a:solidFill>
              <a:srgbClr val="6B3F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483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3383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Nudges &amp; leaderboard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Hostel-vs-hostel segregation scores drive behaviour change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9144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371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makes it different?”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6916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103120"/>
            <a:ext cx="3017520" cy="2240280"/>
          </a:xfrm>
          <a:prstGeom prst="roundRect">
            <a:avLst>
              <a:gd name="adj" fmla="val 489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37160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smart bin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60604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classifier, guesses on every item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cloud + Wi-Fi at each bin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₹20k–1L+ per unit, replaces bins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on who segregates well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103120"/>
            <a:ext cx="3017520" cy="2240280"/>
          </a:xfrm>
          <a:prstGeom prst="roundRect">
            <a:avLst>
              <a:gd name="adj" fmla="val 4898"/>
            </a:avLst>
          </a:prstGeom>
          <a:solidFill>
            <a:srgbClr val="EFE8FF"/>
          </a:solidFill>
          <a:ln w="12700">
            <a:solidFill>
              <a:srgbClr val="EFE8FF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772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SortSense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60604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when it doesn’t know → asks a human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on-device, offline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₹4k retrofit kit on existing 3-bin sets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disposal feeds a live dashboard + retraining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9144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8720" y="155448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B8E62A"/>
          </a:solidFill>
          <a:ln w="12700">
            <a:solidFill>
              <a:srgbClr val="B8E6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78892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transfer learning (TensorFlow/Keras) → TFLite &amp; TF.js; YOLOv8n for multi-item detection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121408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6B3FD9"/>
          </a:solidFill>
          <a:ln w="12700">
            <a:solidFill>
              <a:srgbClr val="6B3F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1214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2121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TrashNet, TACO + our own campus images collected via the app’s confirm 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2688336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B8E62A"/>
          </a:solidFill>
          <a:ln w="12700">
            <a:solidFill>
              <a:srgbClr val="B8E6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26883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6883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ESP32-CAM, SG90 servo flap, HC-SR04 fill sensor, RGB LED, buzzer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88720" y="3255264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6B3FD9"/>
          </a:solidFill>
          <a:ln w="12700">
            <a:solidFill>
              <a:srgbClr val="6B3F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32552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Web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2552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JavaScript (TF.js) prototype; React Native / PWA for students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88720" y="3822192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B8E62A"/>
          </a:solidFill>
          <a:ln w="12700">
            <a:solidFill>
              <a:srgbClr val="B8E6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38221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788920" y="38221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SQLite/PostgreSQL; MQTT from bins; Chart.js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9144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SCALABILITY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8720" y="155448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EEFBC9"/>
          </a:solidFill>
          <a:ln w="12700">
            <a:solidFill>
              <a:srgbClr val="EEFBC9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188720" y="1600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 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recyclables recovered per year on one campus*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55448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EFE8FF"/>
          </a:solidFill>
          <a:ln w="12700">
            <a:solidFill>
              <a:srgbClr val="EFE8FF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383280" y="1600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≥85%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classification accuracy (TrashNet benchmark)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EEFBC9"/>
          </a:solidFill>
          <a:ln w="12700">
            <a:solidFill>
              <a:srgbClr val="EEFBC9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577840" y="1600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s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decision time at the bin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path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88720" y="3246120"/>
            <a:ext cx="1554480" cy="502920"/>
          </a:xfrm>
          <a:prstGeom prst="chevron">
            <a:avLst/>
          </a:prstGeom>
          <a:solidFill>
            <a:srgbClr val="EEFBC9"/>
          </a:solidFill>
          <a:ln w="12700">
            <a:solidFill>
              <a:srgbClr val="B8E6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7160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hostel pilot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88920" y="3246120"/>
            <a:ext cx="1554480" cy="502920"/>
          </a:xfrm>
          <a:prstGeom prst="chevron">
            <a:avLst/>
          </a:prstGeom>
          <a:solidFill>
            <a:srgbClr val="EFE8FF"/>
          </a:solidFill>
          <a:ln w="12700">
            <a:solidFill>
              <a:srgbClr val="6B3F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7180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hostels + canteens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3246120"/>
            <a:ext cx="1554480" cy="502920"/>
          </a:xfrm>
          <a:prstGeom prst="chevron">
            <a:avLst/>
          </a:prstGeom>
          <a:solidFill>
            <a:srgbClr val="EEFBC9"/>
          </a:solidFill>
          <a:ln w="12700">
            <a:solidFill>
              <a:srgbClr val="B8E6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campuses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3246120"/>
            <a:ext cx="1554480" cy="502920"/>
          </a:xfrm>
          <a:prstGeom prst="chevron">
            <a:avLst/>
          </a:prstGeom>
          <a:solidFill>
            <a:srgbClr val="EFE8FF"/>
          </a:solidFill>
          <a:ln w="12700">
            <a:solidFill>
              <a:srgbClr val="6B3F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wards / RWAs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9319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*Estimate: 8,000 residents × 0.3 kg/day, 25% recyclable share, clean-recovery rising from 40% to 75%. To be validated in the pilot.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9144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COST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1554480"/>
          <a:ext cx="35661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97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 (₹)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D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ESP32-CAM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 flap + 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sensors (×3) + LED + buzzer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supply &amp; wiring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Enclosure / retrofit on existing bins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station (approx.)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B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BC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983480" y="155448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1–2: pilot 10 stations in one hostel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3–6: fine-tune on campus images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2–3: all hostels + canteens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budget ≈ ₹55,000 incl. 2 gateways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40233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Risks: </a:t>
            </a:r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&amp; dirty items (→ fallback confirm), vandalism (→ sealed enclosure), user fatigue (→ leaderboard nudges)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9144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IMPACT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6400800" cy="1463040"/>
          </a:xfrm>
          <a:prstGeom prst="roundRect">
            <a:avLst>
              <a:gd name="adj" fmla="val 7500"/>
            </a:avLst>
          </a:prstGeom>
          <a:solidFill>
            <a:srgbClr val="EEFBC9"/>
          </a:solidFill>
          <a:ln w="12700">
            <a:solidFill>
              <a:srgbClr val="EEFBC9"/>
            </a:solidFill>
            <a:prstDash val="solid"/>
          </a:ln>
          <a:effectLst>
            <a:outerShdw sx="100000" sy="100000" kx="0" ky="0" algn="bl" rotWithShape="0" blurRad="50800" dist="19050" dir="5400000">
              <a:srgbClr val="999999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600200" y="18745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“Segregation fails at the first second — so SortSense makes that second smart, cheap, and measurable.”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3520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6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POWERFUL STATEMENT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SortSense – Sociothon 2026</dc:title>
  <dc:subject>PptxGenJS Presentation</dc:subject>
  <dc:creator>team_name</dc:creator>
  <cp:lastModifiedBy>team_name</cp:lastModifiedBy>
  <cp:revision>1</cp:revision>
  <dcterms:created xsi:type="dcterms:W3CDTF">2026-10-24T08:11:28Z</dcterms:created>
  <dcterms:modified xsi:type="dcterms:W3CDTF">2026-10-24T08:11:28Z</dcterms:modified>
</cp:coreProperties>
</file>